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built the thing the challenge describes — and it runs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pain is universal: every delegation prepares the hard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frame: "intelligence layer, not a dashboard."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Council + per-agent memory + per-agent models = the agentic depth judges asked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Anti-hallucination is structural — invite them to challenge any number in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run takes minutes because research is genuinely deep (two-pass web research per field).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page in this tour exists — nothing is a mockup.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UAE-angle is the differentiator vs generic country profilers.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Isolation + sovereignty are designed-in, not bolted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fallback: pre-warmed Kazakhstan/Uzbekistan/Turkmenistan dossiers if Wi-Fi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"vs existing ministry dashboards": we sit on top of them, we don't compete with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audit line — it lands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685800"/>
            <a:ext cx="3291840" cy="3291840"/>
          </a:xfrm>
          <a:prstGeom prst="hexagon">
            <a:avLst/>
          </a:prstGeom>
          <a:ln w="31750">
            <a:solidFill>
              <a:srgbClr val="9C7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37960" y="1234440"/>
            <a:ext cx="2194560" cy="2194560"/>
          </a:xfrm>
          <a:prstGeom prst="hexagon">
            <a:avLst/>
          </a:prstGeom>
          <a:ln w="19050">
            <a:solidFill>
              <a:srgbClr val="B89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86600" y="1783080"/>
            <a:ext cx="1097280" cy="1097280"/>
          </a:xfrm>
          <a:prstGeom prst="hexagon">
            <a:avLst/>
          </a:prstGeom>
          <a:solidFill>
            <a:srgbClr val="9C7A2D"/>
          </a:solidFill>
          <a:ln/>
        </p:spPr>
      </p:sp>
      <p:sp>
        <p:nvSpPr>
          <p:cNvPr id="5" name="Shape 3"/>
          <p:cNvSpPr/>
          <p:nvPr/>
        </p:nvSpPr>
        <p:spPr>
          <a:xfrm>
            <a:off x="5577840" y="3566160"/>
            <a:ext cx="502920" cy="502920"/>
          </a:xfrm>
          <a:prstGeom prst="hexagon">
            <a:avLst/>
          </a:prstGeom>
          <a:ln w="12700">
            <a:solidFill>
              <a:srgbClr val="B89A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49640" y="411480"/>
            <a:ext cx="365760" cy="365760"/>
          </a:xfrm>
          <a:prstGeom prst="hexagon">
            <a:avLst/>
          </a:prstGeom>
          <a:solidFill>
            <a:srgbClr val="9C7A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7772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B89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CHALLENGE 2 — MINISTRY OF ENERGY &amp; INFRASTRUCTURE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Global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Intelligence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country name to a minister-ready, source-verified briefing — in minutes.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4069080"/>
            <a:ext cx="1371600" cy="0"/>
          </a:xfrm>
          <a:prstGeom prst="line">
            <a:avLst/>
          </a:prstGeom>
          <a:noFill/>
          <a:ln w="28575">
            <a:solidFill>
              <a:srgbClr val="9C7A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22452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team  ·  a self-enriching verified Library  ·  executive-grade outputs  ·  EN / العربية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30768" y="47594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7594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MOEI · HACKATHON CHALLENGE 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75488" y="868680"/>
            <a:ext cx="1371600" cy="0"/>
          </a:xfrm>
          <a:prstGeom prst="line">
            <a:avLst/>
          </a:prstGeom>
          <a:noFill/>
          <a:ln w="28575">
            <a:solidFill>
              <a:srgbClr val="9C7A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509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preparation today is slow, fragmented and manual.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79192" cy="2331720"/>
          </a:xfrm>
          <a:prstGeom prst="roundRect">
            <a:avLst>
              <a:gd name="adj" fmla="val 21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7335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194560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3232" y="2560320"/>
            <a:ext cx="2167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facts live across dozens of sources — databanks, reports, news, embassies. Nobody has them in one place when the meeting is tomorrow morning.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59836" y="1417320"/>
            <a:ext cx="2679192" cy="2331720"/>
          </a:xfrm>
          <a:prstGeom prst="roundRect">
            <a:avLst>
              <a:gd name="adj" fmla="val 21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868" y="167335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15868" y="2194560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slow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515868" y="2560320"/>
            <a:ext cx="2167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burn days assembling briefing packs by hand. Quality depends on who compiled it — and it's outdated the moment it's printed.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62472" y="1417320"/>
            <a:ext cx="2679192" cy="2331720"/>
          </a:xfrm>
          <a:prstGeom prst="roundRect">
            <a:avLst>
              <a:gd name="adj" fmla="val 21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67335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18504" y="2194560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Unverifiable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318504" y="2560320"/>
            <a:ext cx="2167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tools answer fast but invent figures. For government decisions, an uncited number is worse than no number.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7639"/>
            </a:avLst>
          </a:prstGeom>
          <a:solidFill>
            <a:srgbClr val="F3ECD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749808" y="402336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C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—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meeting readiness, slower strategic decisions, lost collaboration opportunities during international engagements.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430768" y="47594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457200" y="47594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0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MOEI · HACKATHON CHALLENGE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intelligence layer — not another dashboard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75488" y="868680"/>
            <a:ext cx="1371600" cy="0"/>
          </a:xfrm>
          <a:prstGeom prst="line">
            <a:avLst/>
          </a:prstGeom>
          <a:noFill/>
          <a:ln w="28575">
            <a:solidFill>
              <a:srgbClr val="9C7A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509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country. A team of AI agents researches, verifies, debates and delivers the briefing.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79192" cy="2560320"/>
          </a:xfrm>
          <a:prstGeom prst="roundRect">
            <a:avLst>
              <a:gd name="adj" fmla="val 19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" y="1636776"/>
            <a:ext cx="566928" cy="566928"/>
          </a:xfrm>
          <a:prstGeom prst="hexagon">
            <a:avLst/>
          </a:prstGeom>
          <a:solidFill>
            <a:srgbClr val="F3ECD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77393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" y="2331720"/>
            <a:ext cx="2203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team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94944" y="2679192"/>
            <a:ext cx="2203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specialised agents — researchers, verifier, analyst, predictive, council, writers, chat, visualizer — each with its own model, working memory, and audited reasoning.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3259836" y="1417320"/>
            <a:ext cx="2679192" cy="2560320"/>
          </a:xfrm>
          <a:prstGeom prst="roundRect">
            <a:avLst>
              <a:gd name="adj" fmla="val 19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97580" y="1636776"/>
            <a:ext cx="566928" cy="566928"/>
          </a:xfrm>
          <a:prstGeom prst="hexagon">
            <a:avLst/>
          </a:prstGeom>
          <a:solidFill>
            <a:srgbClr val="F3ECD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177393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97580" y="2331720"/>
            <a:ext cx="2203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 Library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497580" y="2679192"/>
            <a:ext cx="2203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stored with source, tier, date and full version history. Tier-1 structured data first (World Bank, IMF, UN Comtrade), deep cited web research second. Zero invented facts — by architecture, not by promise.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6062472" y="1417320"/>
            <a:ext cx="2679192" cy="2560320"/>
          </a:xfrm>
          <a:prstGeom prst="roundRect">
            <a:avLst>
              <a:gd name="adj" fmla="val 19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00216" y="1636776"/>
            <a:ext cx="566928" cy="566928"/>
          </a:xfrm>
          <a:prstGeom prst="hexagon">
            <a:avLst/>
          </a:prstGeom>
          <a:solidFill>
            <a:srgbClr val="F3ECD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77393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0216" y="2331720"/>
            <a:ext cx="2203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outputs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300216" y="2679192"/>
            <a:ext cx="2203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Tear-sheet briefing, talking points, opportunities &amp; risks, predictive outlook, council verdict — exported as branded slides, smart reports, one-pagers, live dashboards. Bilingual EN / AR.</a:t>
            </a:r>
            <a:endParaRPr lang="en-US" sz="980" dirty="0"/>
          </a:p>
        </p:txBody>
      </p:sp>
      <p:sp>
        <p:nvSpPr>
          <p:cNvPr id="20" name="Text 15"/>
          <p:cNvSpPr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ask  →  minutes later: </a:t>
            </a:r>
            <a:pPr algn="ctr" indent="0" marL="0">
              <a:buNone/>
            </a:pPr>
            <a:r>
              <a:rPr lang="en-US" sz="1400" b="1" dirty="0">
                <a:solidFill>
                  <a:srgbClr val="9C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decision-ready, fully-cited country briefing.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430768" y="47594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57200" y="47594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0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MOEI · HACKATHON CHALLENGE 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team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75488" y="868680"/>
            <a:ext cx="1371600" cy="0"/>
          </a:xfrm>
          <a:prstGeom prst="line">
            <a:avLst/>
          </a:prstGeom>
          <a:noFill/>
          <a:ln w="28575">
            <a:solidFill>
              <a:srgbClr val="9C7A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78992"/>
            <a:ext cx="2679192" cy="1078992"/>
          </a:xfrm>
          <a:prstGeom prst="roundRect">
            <a:avLst>
              <a:gd name="adj" fmla="val 46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4358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2070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0080" y="1536192"/>
            <a:ext cx="2313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intent, plans the run, dispatches the team.</a:t>
            </a:r>
            <a:endParaRPr lang="en-US" sz="820" dirty="0"/>
          </a:p>
        </p:txBody>
      </p:sp>
      <p:sp>
        <p:nvSpPr>
          <p:cNvPr id="8" name="Shape 5"/>
          <p:cNvSpPr/>
          <p:nvPr/>
        </p:nvSpPr>
        <p:spPr>
          <a:xfrm>
            <a:off x="3259836" y="1078992"/>
            <a:ext cx="2679192" cy="1078992"/>
          </a:xfrm>
          <a:prstGeom prst="roundRect">
            <a:avLst>
              <a:gd name="adj" fmla="val 46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716" y="124358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26764" y="12070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Domain Researchers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442716" y="1536192"/>
            <a:ext cx="2313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deep research: identity &amp; governance, economy &amp; trade, energy, infrastructure, sustainability, innovation, UAE relations, real-time events.</a:t>
            </a:r>
            <a:endParaRPr lang="en-US" sz="820" dirty="0"/>
          </a:p>
        </p:txBody>
      </p:sp>
      <p:sp>
        <p:nvSpPr>
          <p:cNvPr id="12" name="Shape 8"/>
          <p:cNvSpPr/>
          <p:nvPr/>
        </p:nvSpPr>
        <p:spPr>
          <a:xfrm>
            <a:off x="6062472" y="1078992"/>
            <a:ext cx="2679192" cy="1078992"/>
          </a:xfrm>
          <a:prstGeom prst="roundRect">
            <a:avLst>
              <a:gd name="adj" fmla="val 46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24358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29400" y="12070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6245352" y="1536192"/>
            <a:ext cx="2313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no-hallucination gate: tier priority, corroboration, conflict resolution — deterministic code, not a model.</a:t>
            </a:r>
            <a:endParaRPr lang="en-US" sz="820" dirty="0"/>
          </a:p>
        </p:txBody>
      </p:sp>
      <p:sp>
        <p:nvSpPr>
          <p:cNvPr id="16" name="Shape 11"/>
          <p:cNvSpPr/>
          <p:nvPr/>
        </p:nvSpPr>
        <p:spPr>
          <a:xfrm>
            <a:off x="457200" y="2263140"/>
            <a:ext cx="2679192" cy="1078992"/>
          </a:xfrm>
          <a:prstGeom prst="roundRect">
            <a:avLst>
              <a:gd name="adj" fmla="val 46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2773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24128" y="23911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640080" y="2720340"/>
            <a:ext cx="2313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&amp; risks — every point tied to cited facts.</a:t>
            </a:r>
            <a:endParaRPr lang="en-US" sz="820" dirty="0"/>
          </a:p>
        </p:txBody>
      </p:sp>
      <p:sp>
        <p:nvSpPr>
          <p:cNvPr id="20" name="Shape 14"/>
          <p:cNvSpPr/>
          <p:nvPr/>
        </p:nvSpPr>
        <p:spPr>
          <a:xfrm>
            <a:off x="3259836" y="2263140"/>
            <a:ext cx="2679192" cy="1078992"/>
          </a:xfrm>
          <a:prstGeom prst="roundRect">
            <a:avLst>
              <a:gd name="adj" fmla="val 46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2716" y="2427732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26764" y="23911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3442716" y="2720340"/>
            <a:ext cx="2313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year outlook from real multi-year trends, always labeled as projection.</a:t>
            </a:r>
            <a:endParaRPr lang="en-US" sz="820" dirty="0"/>
          </a:p>
        </p:txBody>
      </p:sp>
      <p:sp>
        <p:nvSpPr>
          <p:cNvPr id="24" name="Shape 17"/>
          <p:cNvSpPr/>
          <p:nvPr/>
        </p:nvSpPr>
        <p:spPr>
          <a:xfrm>
            <a:off x="6062472" y="2263140"/>
            <a:ext cx="2679192" cy="1078992"/>
          </a:xfrm>
          <a:prstGeom prst="roundRect">
            <a:avLst>
              <a:gd name="adj" fmla="val 46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2427732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629400" y="23911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6245352" y="2720340"/>
            <a:ext cx="2313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senior seats debate the drafts → consensus verdict + confidence grade + preserved dissent.</a:t>
            </a:r>
            <a:endParaRPr lang="en-US" sz="820" dirty="0"/>
          </a:p>
        </p:txBody>
      </p:sp>
      <p:sp>
        <p:nvSpPr>
          <p:cNvPr id="28" name="Shape 20"/>
          <p:cNvSpPr/>
          <p:nvPr/>
        </p:nvSpPr>
        <p:spPr>
          <a:xfrm>
            <a:off x="457200" y="3447288"/>
            <a:ext cx="2679192" cy="1078992"/>
          </a:xfrm>
          <a:prstGeom prst="roundRect">
            <a:avLst>
              <a:gd name="adj" fmla="val 46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611880"/>
            <a:ext cx="274320" cy="2743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24128" y="35753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Writers EN / AR</a:t>
            </a:r>
            <a:endParaRPr lang="en-US" sz="1150" dirty="0"/>
          </a:p>
        </p:txBody>
      </p:sp>
      <p:sp>
        <p:nvSpPr>
          <p:cNvPr id="31" name="Text 22"/>
          <p:cNvSpPr/>
          <p:nvPr/>
        </p:nvSpPr>
        <p:spPr>
          <a:xfrm>
            <a:off x="640080" y="3904488"/>
            <a:ext cx="2313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read &amp; talking points; native Arabic generation, not translation.</a:t>
            </a:r>
            <a:endParaRPr lang="en-US" sz="820" dirty="0"/>
          </a:p>
        </p:txBody>
      </p:sp>
      <p:sp>
        <p:nvSpPr>
          <p:cNvPr id="32" name="Shape 23"/>
          <p:cNvSpPr/>
          <p:nvPr/>
        </p:nvSpPr>
        <p:spPr>
          <a:xfrm>
            <a:off x="3259836" y="3447288"/>
            <a:ext cx="2679192" cy="1078992"/>
          </a:xfrm>
          <a:prstGeom prst="roundRect">
            <a:avLst>
              <a:gd name="adj" fmla="val 46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2716" y="3611880"/>
            <a:ext cx="274320" cy="27432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826764" y="35753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150" dirty="0"/>
          </a:p>
        </p:txBody>
      </p:sp>
      <p:sp>
        <p:nvSpPr>
          <p:cNvPr id="35" name="Text 25"/>
          <p:cNvSpPr/>
          <p:nvPr/>
        </p:nvSpPr>
        <p:spPr>
          <a:xfrm>
            <a:off x="3442716" y="3904488"/>
            <a:ext cx="2313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intelligence over the verified Library.</a:t>
            </a:r>
            <a:endParaRPr lang="en-US" sz="820" dirty="0"/>
          </a:p>
        </p:txBody>
      </p:sp>
      <p:sp>
        <p:nvSpPr>
          <p:cNvPr id="36" name="Shape 26"/>
          <p:cNvSpPr/>
          <p:nvPr/>
        </p:nvSpPr>
        <p:spPr>
          <a:xfrm>
            <a:off x="6062472" y="3447288"/>
            <a:ext cx="2679192" cy="1078992"/>
          </a:xfrm>
          <a:prstGeom prst="roundRect">
            <a:avLst>
              <a:gd name="adj" fmla="val 46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5352" y="3611880"/>
            <a:ext cx="274320" cy="27432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629400" y="35753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Visualizer</a:t>
            </a:r>
            <a:endParaRPr lang="en-US" sz="1150" dirty="0"/>
          </a:p>
        </p:txBody>
      </p:sp>
      <p:sp>
        <p:nvSpPr>
          <p:cNvPr id="39" name="Text 28"/>
          <p:cNvSpPr/>
          <p:nvPr/>
        </p:nvSpPr>
        <p:spPr>
          <a:xfrm>
            <a:off x="6245352" y="3904488"/>
            <a:ext cx="2313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visual director — designs the story, never the numbers.</a:t>
            </a:r>
            <a:endParaRPr lang="en-US" sz="820" dirty="0"/>
          </a:p>
        </p:txBody>
      </p:sp>
      <p:sp>
        <p:nvSpPr>
          <p:cNvPr id="40" name="Text 29"/>
          <p:cNvSpPr/>
          <p:nvPr/>
        </p:nvSpPr>
        <p:spPr>
          <a:xfrm>
            <a:off x="457200" y="4700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C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agent's model is configurable per-agent from the platform's Parameters page.</a:t>
            </a:r>
            <a:endParaRPr lang="en-US" sz="1050" dirty="0"/>
          </a:p>
        </p:txBody>
      </p:sp>
      <p:sp>
        <p:nvSpPr>
          <p:cNvPr id="41" name="Text 30"/>
          <p:cNvSpPr/>
          <p:nvPr/>
        </p:nvSpPr>
        <p:spPr>
          <a:xfrm>
            <a:off x="8430768" y="47594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hallucination, enforced by architecture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75488" y="868680"/>
            <a:ext cx="1371600" cy="0"/>
          </a:xfrm>
          <a:prstGeom prst="line">
            <a:avLst/>
          </a:prstGeom>
          <a:noFill/>
          <a:ln w="28575">
            <a:solidFill>
              <a:srgbClr val="9C7A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509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prompt instruction. A structural guarantee.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8229600" cy="60350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727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2416" y="1389888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15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cannot exist without a source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86200" y="1389888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6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schema rejects any fact without provenance (source, URL, tier, date). No source → shown honestly as NOT FOUND.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457200" y="2071116"/>
            <a:ext cx="8229600" cy="60350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5399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42416" y="2071116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15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verifier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886200" y="2071116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6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not a model: Tier-1 structured beats web; conflicts resolved by tier + recency; two-source corroboration flagged.</a:t>
            </a:r>
            <a:endParaRPr lang="en-US" sz="960" dirty="0"/>
          </a:p>
        </p:txBody>
      </p:sp>
      <p:sp>
        <p:nvSpPr>
          <p:cNvPr id="13" name="Shape 9"/>
          <p:cNvSpPr/>
          <p:nvPr/>
        </p:nvSpPr>
        <p:spPr>
          <a:xfrm>
            <a:off x="457200" y="2752344"/>
            <a:ext cx="8229600" cy="60350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35224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42416" y="2752344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15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Versioned, audited Library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3886200" y="2752344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6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overwritten; every change appends a version — who, when, what, from where. Manual edits stamped and audited.</a:t>
            </a:r>
            <a:endParaRPr lang="en-US" sz="960" dirty="0"/>
          </a:p>
        </p:txBody>
      </p:sp>
      <p:sp>
        <p:nvSpPr>
          <p:cNvPr id="17" name="Shape 12"/>
          <p:cNvSpPr/>
          <p:nvPr/>
        </p:nvSpPr>
        <p:spPr>
          <a:xfrm>
            <a:off x="457200" y="3433572"/>
            <a:ext cx="8229600" cy="60350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616452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42416" y="3433572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15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source registry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3886200" y="3433572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6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 / blocklist enforced in code: block a domain and every future fact from it is dropped before entering the Library.</a:t>
            </a:r>
            <a:endParaRPr lang="en-US" sz="960" dirty="0"/>
          </a:p>
        </p:txBody>
      </p:sp>
      <p:sp>
        <p:nvSpPr>
          <p:cNvPr id="21" name="Shape 15"/>
          <p:cNvSpPr/>
          <p:nvPr/>
        </p:nvSpPr>
        <p:spPr>
          <a:xfrm>
            <a:off x="457200" y="4114800"/>
            <a:ext cx="8229600" cy="60350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29768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42416" y="4114800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15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text is synthesis-only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3886200" y="4114800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6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Writers, analyst, council and visualizer can only arrange verified facts; renderers inject exact numbers from the Library.</a:t>
            </a:r>
            <a:endParaRPr lang="en-US" sz="960" dirty="0"/>
          </a:p>
        </p:txBody>
      </p:sp>
      <p:sp>
        <p:nvSpPr>
          <p:cNvPr id="25" name="Text 18"/>
          <p:cNvSpPr/>
          <p:nvPr/>
        </p:nvSpPr>
        <p:spPr>
          <a:xfrm>
            <a:off x="8430768" y="47594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457200" y="47594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0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MOEI · HACKATHON CHALLENGE 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deep-research pipeline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75488" y="868680"/>
            <a:ext cx="1371600" cy="0"/>
          </a:xfrm>
          <a:prstGeom prst="line">
            <a:avLst/>
          </a:prstGeom>
          <a:noFill/>
          <a:ln w="28575">
            <a:solidFill>
              <a:srgbClr val="9C7A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25880"/>
            <a:ext cx="1156716" cy="9144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B89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25880"/>
            <a:ext cx="8092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&amp; plan</a:t>
            </a:r>
            <a:endParaRPr lang="en-US" sz="840" dirty="0"/>
          </a:p>
        </p:txBody>
      </p:sp>
      <p:sp>
        <p:nvSpPr>
          <p:cNvPr id="6" name="Shape 4"/>
          <p:cNvSpPr/>
          <p:nvPr/>
        </p:nvSpPr>
        <p:spPr>
          <a:xfrm>
            <a:off x="1467612" y="1325880"/>
            <a:ext cx="1156716" cy="914400"/>
          </a:xfrm>
          <a:prstGeom prst="chevron">
            <a:avLst/>
          </a:prstGeom>
          <a:solidFill>
            <a:srgbClr val="F3ECDC"/>
          </a:solidFill>
          <a:ln w="9525">
            <a:solidFill>
              <a:srgbClr val="B89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87068" y="1325880"/>
            <a:ext cx="8092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researchers in parallel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2478024" y="1325880"/>
            <a:ext cx="1156716" cy="9144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B89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1325880"/>
            <a:ext cx="8092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APIs + deep web (2-pass)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3488436" y="1325880"/>
            <a:ext cx="1156716" cy="914400"/>
          </a:xfrm>
          <a:prstGeom prst="chevron">
            <a:avLst/>
          </a:prstGeom>
          <a:solidFill>
            <a:srgbClr val="2B2B2B"/>
          </a:solidFill>
          <a:ln/>
        </p:spPr>
      </p:sp>
      <p:sp>
        <p:nvSpPr>
          <p:cNvPr id="11" name="Text 9"/>
          <p:cNvSpPr/>
          <p:nvPr/>
        </p:nvSpPr>
        <p:spPr>
          <a:xfrm>
            <a:off x="3707892" y="1325880"/>
            <a:ext cx="8092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40" b="1" dirty="0">
                <a:solidFill>
                  <a:srgbClr val="B89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corroborate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4498848" y="1325880"/>
            <a:ext cx="1156716" cy="9144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B89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1325880"/>
            <a:ext cx="8092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(versioned)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5509260" y="1325880"/>
            <a:ext cx="1156716" cy="914400"/>
          </a:xfrm>
          <a:prstGeom prst="chevron">
            <a:avLst/>
          </a:prstGeom>
          <a:solidFill>
            <a:srgbClr val="F3ECDC"/>
          </a:solidFill>
          <a:ln w="9525">
            <a:solidFill>
              <a:srgbClr val="B89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28716" y="1325880"/>
            <a:ext cx="8092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· Analyse · Predict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6519672" y="1325880"/>
            <a:ext cx="1156716" cy="914400"/>
          </a:xfrm>
          <a:prstGeom prst="chevron">
            <a:avLst/>
          </a:prstGeom>
          <a:solidFill>
            <a:srgbClr val="2B2B2B"/>
          </a:solidFill>
          <a:ln/>
        </p:spPr>
      </p:sp>
      <p:sp>
        <p:nvSpPr>
          <p:cNvPr id="17" name="Text 15"/>
          <p:cNvSpPr/>
          <p:nvPr/>
        </p:nvSpPr>
        <p:spPr>
          <a:xfrm>
            <a:off x="6739128" y="1325880"/>
            <a:ext cx="8092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40" b="1" dirty="0">
                <a:solidFill>
                  <a:srgbClr val="B89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review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7530084" y="1325880"/>
            <a:ext cx="1156716" cy="914400"/>
          </a:xfrm>
          <a:prstGeom prst="chevron">
            <a:avLst/>
          </a:prstGeom>
          <a:solidFill>
            <a:srgbClr val="F3ECDC"/>
          </a:solidFill>
          <a:ln w="9525">
            <a:solidFill>
              <a:srgbClr val="B89A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49540" y="1325880"/>
            <a:ext cx="8092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&amp; export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4050792" cy="1828800"/>
          </a:xfrm>
          <a:prstGeom prst="roundRect">
            <a:avLst>
              <a:gd name="adj" fmla="val 2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843784"/>
            <a:ext cx="329184" cy="32918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70432" y="2825496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Memory-first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713232" y="3319272"/>
            <a:ext cx="3538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dossiers serve instantly from the Library; stale ones re-research automatically. The platform gets smarter with every question — a self-enriching knowledge base, not a stateless chatbot.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636008" y="2606040"/>
            <a:ext cx="4050792" cy="1828800"/>
          </a:xfrm>
          <a:prstGeom prst="roundRect">
            <a:avLst>
              <a:gd name="adj" fmla="val 2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843784"/>
            <a:ext cx="329184" cy="32918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349240" y="2825496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audited</a:t>
            </a:r>
            <a:endParaRPr lang="en-US" sz="1450" dirty="0"/>
          </a:p>
        </p:txBody>
      </p:sp>
      <p:sp>
        <p:nvSpPr>
          <p:cNvPr id="27" name="Text 23"/>
          <p:cNvSpPr/>
          <p:nvPr/>
        </p:nvSpPr>
        <p:spPr>
          <a:xfrm>
            <a:off x="4892040" y="3319272"/>
            <a:ext cx="3538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log (every agent step + reasoning), user log (every admin action), per-agent working memory per run, field-level version history. “Who did what” is always answerable.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8430768" y="47594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457200" y="47594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0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MOEI · HACKATHON CHALLENGE 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— product tour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75488" y="868680"/>
            <a:ext cx="1371600" cy="0"/>
          </a:xfrm>
          <a:prstGeom prst="line">
            <a:avLst/>
          </a:prstGeom>
          <a:noFill/>
          <a:ln w="28575">
            <a:solidFill>
              <a:srgbClr val="9C7A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15568"/>
            <a:ext cx="2016252" cy="1572768"/>
          </a:xfrm>
          <a:prstGeom prst="roundRect">
            <a:avLst>
              <a:gd name="adj" fmla="val 31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271016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243584"/>
            <a:ext cx="1394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21792" y="1618488"/>
            <a:ext cx="16870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“Central Asia × UAE” news signals + ask-anything box.</a:t>
            </a:r>
            <a:endParaRPr lang="en-US" sz="840" dirty="0"/>
          </a:p>
        </p:txBody>
      </p:sp>
      <p:sp>
        <p:nvSpPr>
          <p:cNvPr id="8" name="Shape 5"/>
          <p:cNvSpPr/>
          <p:nvPr/>
        </p:nvSpPr>
        <p:spPr>
          <a:xfrm>
            <a:off x="2587752" y="1115568"/>
            <a:ext cx="2016252" cy="1572768"/>
          </a:xfrm>
          <a:prstGeom prst="roundRect">
            <a:avLst>
              <a:gd name="adj" fmla="val 31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344" y="127101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90672" y="1243584"/>
            <a:ext cx="1394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2752344" y="1618488"/>
            <a:ext cx="16870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ChatGPT-style landing with quick research actions (“about the last briefing”…).</a:t>
            </a:r>
            <a:endParaRPr lang="en-US" sz="840" dirty="0"/>
          </a:p>
        </p:txBody>
      </p:sp>
      <p:sp>
        <p:nvSpPr>
          <p:cNvPr id="12" name="Shape 8"/>
          <p:cNvSpPr/>
          <p:nvPr/>
        </p:nvSpPr>
        <p:spPr>
          <a:xfrm>
            <a:off x="4718304" y="1115568"/>
            <a:ext cx="2016252" cy="1572768"/>
          </a:xfrm>
          <a:prstGeom prst="roundRect">
            <a:avLst>
              <a:gd name="adj" fmla="val 31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127101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21224" y="1243584"/>
            <a:ext cx="1394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workspace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4882896" y="1618488"/>
            <a:ext cx="16870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tabs per country: briefing, UAE relations, risks, outlook, talking points, council verdict, deep-dives, sourced data.</a:t>
            </a:r>
            <a:endParaRPr lang="en-US" sz="840" dirty="0"/>
          </a:p>
        </p:txBody>
      </p:sp>
      <p:sp>
        <p:nvSpPr>
          <p:cNvPr id="16" name="Shape 11"/>
          <p:cNvSpPr/>
          <p:nvPr/>
        </p:nvSpPr>
        <p:spPr>
          <a:xfrm>
            <a:off x="6848856" y="1115568"/>
            <a:ext cx="2016252" cy="1572768"/>
          </a:xfrm>
          <a:prstGeom prst="roundRect">
            <a:avLst>
              <a:gd name="adj" fmla="val 31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271016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51776" y="1243584"/>
            <a:ext cx="1394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reasoning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7013448" y="1618488"/>
            <a:ext cx="16870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team think: live progress + each agent's working memory.</a:t>
            </a:r>
            <a:endParaRPr lang="en-US" sz="840" dirty="0"/>
          </a:p>
        </p:txBody>
      </p:sp>
      <p:sp>
        <p:nvSpPr>
          <p:cNvPr id="20" name="Shape 14"/>
          <p:cNvSpPr/>
          <p:nvPr/>
        </p:nvSpPr>
        <p:spPr>
          <a:xfrm>
            <a:off x="457200" y="2807208"/>
            <a:ext cx="2016252" cy="1572768"/>
          </a:xfrm>
          <a:prstGeom prst="roundRect">
            <a:avLst>
              <a:gd name="adj" fmla="val 31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296265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60120" y="2935224"/>
            <a:ext cx="1394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Lab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621792" y="3310128"/>
            <a:ext cx="16870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slides, smart report, one-pager, live dashboard — pick the sections you want.</a:t>
            </a:r>
            <a:endParaRPr lang="en-US" sz="840" dirty="0"/>
          </a:p>
        </p:txBody>
      </p:sp>
      <p:sp>
        <p:nvSpPr>
          <p:cNvPr id="24" name="Shape 17"/>
          <p:cNvSpPr/>
          <p:nvPr/>
        </p:nvSpPr>
        <p:spPr>
          <a:xfrm>
            <a:off x="2587752" y="2807208"/>
            <a:ext cx="2016252" cy="1572768"/>
          </a:xfrm>
          <a:prstGeom prst="roundRect">
            <a:avLst>
              <a:gd name="adj" fmla="val 31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2344" y="2962656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090672" y="2935224"/>
            <a:ext cx="1394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2752344" y="3310128"/>
            <a:ext cx="16870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or block any domain; paid sources via API key (Bloomberg-ready); internal database with hard isolation.</a:t>
            </a:r>
            <a:endParaRPr lang="en-US" sz="840" dirty="0"/>
          </a:p>
        </p:txBody>
      </p:sp>
      <p:sp>
        <p:nvSpPr>
          <p:cNvPr id="28" name="Shape 20"/>
          <p:cNvSpPr/>
          <p:nvPr/>
        </p:nvSpPr>
        <p:spPr>
          <a:xfrm>
            <a:off x="4718304" y="2807208"/>
            <a:ext cx="2016252" cy="1572768"/>
          </a:xfrm>
          <a:prstGeom prst="roundRect">
            <a:avLst>
              <a:gd name="adj" fmla="val 31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2896" y="2962656"/>
            <a:ext cx="256032" cy="25603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221224" y="2935224"/>
            <a:ext cx="1394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50" dirty="0"/>
          </a:p>
        </p:txBody>
      </p:sp>
      <p:sp>
        <p:nvSpPr>
          <p:cNvPr id="31" name="Text 22"/>
          <p:cNvSpPr/>
          <p:nvPr/>
        </p:nvSpPr>
        <p:spPr>
          <a:xfrm>
            <a:off x="4882896" y="3310128"/>
            <a:ext cx="16870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AI model per agent — hot-swap, sovereign-ready.</a:t>
            </a:r>
            <a:endParaRPr lang="en-US" sz="840" dirty="0"/>
          </a:p>
        </p:txBody>
      </p:sp>
      <p:sp>
        <p:nvSpPr>
          <p:cNvPr id="32" name="Shape 23"/>
          <p:cNvSpPr/>
          <p:nvPr/>
        </p:nvSpPr>
        <p:spPr>
          <a:xfrm>
            <a:off x="6848856" y="2807208"/>
            <a:ext cx="2016252" cy="1572768"/>
          </a:xfrm>
          <a:prstGeom prst="roundRect">
            <a:avLst>
              <a:gd name="adj" fmla="val 31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3448" y="2962656"/>
            <a:ext cx="256032" cy="25603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351776" y="2935224"/>
            <a:ext cx="1394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050" dirty="0"/>
          </a:p>
        </p:txBody>
      </p:sp>
      <p:sp>
        <p:nvSpPr>
          <p:cNvPr id="35" name="Text 25"/>
          <p:cNvSpPr/>
          <p:nvPr/>
        </p:nvSpPr>
        <p:spPr>
          <a:xfrm>
            <a:off x="7013448" y="3310128"/>
            <a:ext cx="16870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log &amp; user log — every action recorded.</a:t>
            </a:r>
            <a:endParaRPr lang="en-US" sz="840" dirty="0"/>
          </a:p>
        </p:txBody>
      </p:sp>
      <p:sp>
        <p:nvSpPr>
          <p:cNvPr id="36" name="Text 26"/>
          <p:cNvSpPr/>
          <p:nvPr/>
        </p:nvSpPr>
        <p:spPr>
          <a:xfrm>
            <a:off x="457200" y="4700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C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bilingual — English and native Arabic, RTL layouts included.</a:t>
            </a:r>
            <a:endParaRPr lang="en-US" sz="1050" dirty="0"/>
          </a:p>
        </p:txBody>
      </p:sp>
      <p:sp>
        <p:nvSpPr>
          <p:cNvPr id="37" name="Text 27"/>
          <p:cNvSpPr/>
          <p:nvPr/>
        </p:nvSpPr>
        <p:spPr>
          <a:xfrm>
            <a:off x="8430768" y="47594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the UAE's agenda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75488" y="868680"/>
            <a:ext cx="1371600" cy="0"/>
          </a:xfrm>
          <a:prstGeom prst="line">
            <a:avLst/>
          </a:prstGeom>
          <a:noFill/>
          <a:ln w="28575">
            <a:solidFill>
              <a:srgbClr val="9C7A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4050792" cy="1481328"/>
          </a:xfrm>
          <a:prstGeom prst="roundRect">
            <a:avLst>
              <a:gd name="adj" fmla="val 33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344168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3856" y="128016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Relations is its own research domain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94944" y="1801368"/>
            <a:ext cx="35753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Ambassadors &amp; embassies, UAE companies investing (Masdar, DP World, AD Ports, Mubadala…), agreements &amp; MoUs, bilateral trade, recent high-level visits — researched and cited per country.</a:t>
            </a:r>
            <a:endParaRPr lang="en-US" sz="930" dirty="0"/>
          </a:p>
        </p:txBody>
      </p:sp>
      <p:sp>
        <p:nvSpPr>
          <p:cNvPr id="8" name="Shape 5"/>
          <p:cNvSpPr/>
          <p:nvPr/>
        </p:nvSpPr>
        <p:spPr>
          <a:xfrm>
            <a:off x="4636008" y="1143000"/>
            <a:ext cx="4050792" cy="1481328"/>
          </a:xfrm>
          <a:prstGeom prst="roundRect">
            <a:avLst>
              <a:gd name="adj" fmla="val 33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34416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12664" y="128016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Asia focus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873752" y="1801368"/>
            <a:ext cx="35753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tracks live UAE × Central Asia signals; Kazakhstan, Uzbekistan and Turkmenistan briefings pre-warmed.</a:t>
            </a:r>
            <a:endParaRPr lang="en-US" sz="930" dirty="0"/>
          </a:p>
        </p:txBody>
      </p:sp>
      <p:sp>
        <p:nvSpPr>
          <p:cNvPr id="12" name="Shape 8"/>
          <p:cNvSpPr/>
          <p:nvPr/>
        </p:nvSpPr>
        <p:spPr>
          <a:xfrm>
            <a:off x="457200" y="2752344"/>
            <a:ext cx="4050792" cy="1481328"/>
          </a:xfrm>
          <a:prstGeom prst="roundRect">
            <a:avLst>
              <a:gd name="adj" fmla="val 33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95351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33856" y="2889504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points a minister can say out loud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694944" y="3410712"/>
            <a:ext cx="35753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pairs a cited fact with the UAE relevance or a concrete ask — in English and native Arabic.</a:t>
            </a:r>
            <a:endParaRPr lang="en-US" sz="930" dirty="0"/>
          </a:p>
        </p:txBody>
      </p:sp>
      <p:sp>
        <p:nvSpPr>
          <p:cNvPr id="16" name="Shape 11"/>
          <p:cNvSpPr/>
          <p:nvPr/>
        </p:nvSpPr>
        <p:spPr>
          <a:xfrm>
            <a:off x="4636008" y="2752344"/>
            <a:ext cx="4050792" cy="1481328"/>
          </a:xfrm>
          <a:prstGeom prst="roundRect">
            <a:avLst>
              <a:gd name="adj" fmla="val 33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953512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12664" y="2889504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&amp; risks + council verdict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4873752" y="3410712"/>
            <a:ext cx="35753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drafts, four seats debate, leadership gets consensus + confidence + dissent.</a:t>
            </a:r>
            <a:endParaRPr lang="en-US" sz="930" dirty="0"/>
          </a:p>
        </p:txBody>
      </p:sp>
      <p:sp>
        <p:nvSpPr>
          <p:cNvPr id="20" name="Text 14"/>
          <p:cNvSpPr/>
          <p:nvPr/>
        </p:nvSpPr>
        <p:spPr>
          <a:xfrm>
            <a:off x="457200" y="4315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insight ends with: </a:t>
            </a:r>
            <a:pPr algn="ctr" indent="0" marL="0">
              <a:buNone/>
            </a:pPr>
            <a:r>
              <a:rPr lang="en-US" sz="135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UAE do about it?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8430768" y="47594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457200" y="47594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0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MOEI · HACKATHON CHALLENGE 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control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75488" y="868680"/>
            <a:ext cx="1371600" cy="0"/>
          </a:xfrm>
          <a:prstGeom prst="line">
            <a:avLst/>
          </a:prstGeom>
          <a:noFill/>
          <a:ln w="28575">
            <a:solidFill>
              <a:srgbClr val="9C7A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768096"/>
          </a:xfrm>
          <a:prstGeom prst="roundRect">
            <a:avLst>
              <a:gd name="adj" fmla="val 65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43560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144" y="1188720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A6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database isolation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657600" y="1188720"/>
            <a:ext cx="48280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data linked locally is NEVER sent to the web, to external AI providers, or into agent research context. Guaranteed — and visible in the UI.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2061972"/>
            <a:ext cx="8229600" cy="768096"/>
          </a:xfrm>
          <a:prstGeom prst="roundRect">
            <a:avLst>
              <a:gd name="adj" fmla="val 65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3088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2144" y="2061972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A6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&amp; private sources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657600" y="2061972"/>
            <a:ext cx="48280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Bloomberg-style providers connect via API keys: stored locally, masked in the UI, one-click removal.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2935224"/>
            <a:ext cx="8229600" cy="768096"/>
          </a:xfrm>
          <a:prstGeom prst="roundRect">
            <a:avLst>
              <a:gd name="adj" fmla="val 65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18211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52144" y="2935224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A6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Sovereign-ready AI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3657600" y="2935224"/>
            <a:ext cx="48280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agent's model is one config line. Today OpenAI; tomorrow Core42 Compass (Jais, K2-Think) behind the same interface — no code change.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3808476"/>
            <a:ext cx="8229600" cy="768096"/>
          </a:xfrm>
          <a:prstGeom prst="roundRect">
            <a:avLst>
              <a:gd name="adj" fmla="val 65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5536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52144" y="3808476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A6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auditability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3657600" y="3808476"/>
            <a:ext cx="48280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log + user log + agent memory + version history: every figure traceable from the slide back to its source.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8430768" y="47594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57200" y="47594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0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MOEI · HACKATHON CHALLENGE 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640080"/>
            <a:ext cx="2377440" cy="2377440"/>
          </a:xfrm>
          <a:prstGeom prst="hexagon">
            <a:avLst/>
          </a:prstGeom>
          <a:ln w="19050">
            <a:solidFill>
              <a:srgbClr val="9C7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4023360"/>
            <a:ext cx="1463040" cy="1463040"/>
          </a:xfrm>
          <a:prstGeom prst="hexagon">
            <a:avLst/>
          </a:prstGeom>
          <a:ln w="12700">
            <a:solidFill>
              <a:srgbClr val="B89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005840"/>
            <a:ext cx="1371600" cy="0"/>
          </a:xfrm>
          <a:prstGeom prst="line">
            <a:avLst/>
          </a:prstGeom>
          <a:noFill/>
          <a:ln w="28575">
            <a:solidFill>
              <a:srgbClr val="9C7A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26464"/>
            <a:ext cx="457200" cy="457200"/>
          </a:xfrm>
          <a:prstGeom prst="hexagon">
            <a:avLst/>
          </a:prstGeom>
          <a:solidFill>
            <a:srgbClr val="9C7A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26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37160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 —  </a:t>
            </a:r>
            <a:pPr indent="0" marL="0">
              <a:buNone/>
            </a:pPr>
            <a:r>
              <a:rPr lang="en-US" sz="125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“Prepare me for a meeting with Kazakhstan” — from the home page.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98548"/>
            <a:ext cx="457200" cy="457200"/>
          </a:xfrm>
          <a:prstGeom prst="hexagon">
            <a:avLst/>
          </a:prstGeom>
          <a:solidFill>
            <a:srgbClr val="9C7A2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985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043684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team think  —  </a:t>
            </a:r>
            <a:pPr indent="0" marL="0">
              <a:buNone/>
            </a:pPr>
            <a:r>
              <a:rPr lang="en-US" sz="125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researching in parallel — reasoning + memory live on screen.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770632"/>
            <a:ext cx="457200" cy="457200"/>
          </a:xfrm>
          <a:prstGeom prst="hexagon">
            <a:avLst/>
          </a:prstGeom>
          <a:solidFill>
            <a:srgbClr val="9C7A2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71576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briefing  —  </a:t>
            </a:r>
            <a:pPr indent="0" marL="0">
              <a:buNone/>
            </a:pPr>
            <a:r>
              <a:rPr lang="en-US" sz="125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Tear-sheet, UAE relations, opportunities &amp; risks, predictive outlook, council verdict.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442716"/>
            <a:ext cx="457200" cy="457200"/>
          </a:xfrm>
          <a:prstGeom prst="hexagon">
            <a:avLst/>
          </a:prstGeom>
          <a:solidFill>
            <a:srgbClr val="9C7A2D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4427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3387852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 —  </a:t>
            </a:r>
            <a:pPr indent="0" marL="0">
              <a:buNone/>
            </a:pPr>
            <a:r>
              <a:rPr lang="en-US" sz="125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Lab → branded slides, smart report, one-pager — in seconds.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457200" cy="457200"/>
          </a:xfrm>
          <a:prstGeom prst="hexagon">
            <a:avLst/>
          </a:prstGeom>
          <a:solidFill>
            <a:srgbClr val="9C7A2D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4059936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 —  </a:t>
            </a:r>
            <a:pPr indent="0" marL="0">
              <a:buNone/>
            </a:pPr>
            <a:r>
              <a:rPr lang="en-US" sz="125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 source, swap an agent's model, check the audit log.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430768" y="47594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7594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MOEI · HACKATHON CHALLENGE 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wins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75488" y="868680"/>
            <a:ext cx="1371600" cy="0"/>
          </a:xfrm>
          <a:prstGeom prst="line">
            <a:avLst/>
          </a:prstGeom>
          <a:noFill/>
          <a:ln w="28575">
            <a:solidFill>
              <a:srgbClr val="9C7A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3291840" cy="420624"/>
          </a:xfrm>
          <a:prstGeom prst="roundRect">
            <a:avLst>
              <a:gd name="adj" fmla="val 10870"/>
            </a:avLst>
          </a:prstGeom>
          <a:solidFill>
            <a:srgbClr val="E5DEC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DASHBOARDS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58768" y="1143000"/>
            <a:ext cx="4828032" cy="420624"/>
          </a:xfrm>
          <a:prstGeom prst="roundRect">
            <a:avLst>
              <a:gd name="adj" fmla="val 10870"/>
            </a:avLst>
          </a:prstGeom>
          <a:solidFill>
            <a:srgbClr val="9C7A2D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58768" y="1143000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PLATFORM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55064"/>
            <a:ext cx="3291840" cy="502920"/>
          </a:xfrm>
          <a:prstGeom prst="roundRect">
            <a:avLst>
              <a:gd name="adj" fmla="val 8182"/>
            </a:avLst>
          </a:prstGeom>
          <a:solidFill>
            <a:srgbClr val="EFE9D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5506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8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you must interpret yourself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3858768" y="1655064"/>
            <a:ext cx="4828032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5072" y="1805940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315968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intelligence: opportunities, risks, forecast, council verdict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457200" y="2226564"/>
            <a:ext cx="3291840" cy="502920"/>
          </a:xfrm>
          <a:prstGeom prst="roundRect">
            <a:avLst>
              <a:gd name="adj" fmla="val 8182"/>
            </a:avLst>
          </a:prstGeom>
          <a:solidFill>
            <a:srgbClr val="EFE9DA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222656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8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display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3858768" y="2226564"/>
            <a:ext cx="4828032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2377440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15968" y="22265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— ask anything, compare countries, drill to source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457200" y="2798064"/>
            <a:ext cx="3291840" cy="502920"/>
          </a:xfrm>
          <a:prstGeom prst="roundRect">
            <a:avLst>
              <a:gd name="adj" fmla="val 8182"/>
            </a:avLst>
          </a:prstGeom>
          <a:solidFill>
            <a:srgbClr val="EFE9DA"/>
          </a:solidFill>
          <a:ln/>
        </p:spPr>
      </p:sp>
      <p:sp>
        <p:nvSpPr>
          <p:cNvPr id="19" name="Text 15"/>
          <p:cNvSpPr/>
          <p:nvPr/>
        </p:nvSpPr>
        <p:spPr>
          <a:xfrm>
            <a:off x="640080" y="279806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8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country stats</a:t>
            </a:r>
            <a:endParaRPr lang="en-US" sz="980" dirty="0"/>
          </a:p>
        </p:txBody>
      </p:sp>
      <p:sp>
        <p:nvSpPr>
          <p:cNvPr id="20" name="Shape 16"/>
          <p:cNvSpPr/>
          <p:nvPr/>
        </p:nvSpPr>
        <p:spPr>
          <a:xfrm>
            <a:off x="3858768" y="2798064"/>
            <a:ext cx="4828032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2" y="2948940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315968" y="2798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UAE-bilateral angle researched natively, per country</a:t>
            </a:r>
            <a:endParaRPr lang="en-US" sz="980" dirty="0"/>
          </a:p>
        </p:txBody>
      </p:sp>
      <p:sp>
        <p:nvSpPr>
          <p:cNvPr id="23" name="Shape 18"/>
          <p:cNvSpPr/>
          <p:nvPr/>
        </p:nvSpPr>
        <p:spPr>
          <a:xfrm>
            <a:off x="457200" y="3369564"/>
            <a:ext cx="3291840" cy="502920"/>
          </a:xfrm>
          <a:prstGeom prst="roundRect">
            <a:avLst>
              <a:gd name="adj" fmla="val 8182"/>
            </a:avLst>
          </a:prstGeom>
          <a:solidFill>
            <a:srgbClr val="EFE9DA"/>
          </a:solidFill>
          <a:ln/>
        </p:spPr>
      </p:sp>
      <p:sp>
        <p:nvSpPr>
          <p:cNvPr id="24" name="Text 19"/>
          <p:cNvSpPr/>
          <p:nvPr/>
        </p:nvSpPr>
        <p:spPr>
          <a:xfrm>
            <a:off x="640080" y="336956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8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“Trust the portal”</a:t>
            </a:r>
            <a:endParaRPr lang="en-US" sz="980" dirty="0"/>
          </a:p>
        </p:txBody>
      </p:sp>
      <p:sp>
        <p:nvSpPr>
          <p:cNvPr id="25" name="Shape 20"/>
          <p:cNvSpPr/>
          <p:nvPr/>
        </p:nvSpPr>
        <p:spPr>
          <a:xfrm>
            <a:off x="3858768" y="3369564"/>
            <a:ext cx="4828032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072" y="3520440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15968" y="33695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carries source + year + version history — challenge any number</a:t>
            </a:r>
            <a:endParaRPr lang="en-US" sz="980" dirty="0"/>
          </a:p>
        </p:txBody>
      </p:sp>
      <p:sp>
        <p:nvSpPr>
          <p:cNvPr id="28" name="Shape 22"/>
          <p:cNvSpPr/>
          <p:nvPr/>
        </p:nvSpPr>
        <p:spPr>
          <a:xfrm>
            <a:off x="457200" y="3941064"/>
            <a:ext cx="3291840" cy="502920"/>
          </a:xfrm>
          <a:prstGeom prst="roundRect">
            <a:avLst>
              <a:gd name="adj" fmla="val 8182"/>
            </a:avLst>
          </a:prstGeom>
          <a:solidFill>
            <a:srgbClr val="EFE9DA"/>
          </a:solidFill>
          <a:ln/>
        </p:spPr>
      </p:sp>
      <p:sp>
        <p:nvSpPr>
          <p:cNvPr id="29" name="Text 23"/>
          <p:cNvSpPr/>
          <p:nvPr/>
        </p:nvSpPr>
        <p:spPr>
          <a:xfrm>
            <a:off x="640080" y="394106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8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into slides</a:t>
            </a:r>
            <a:endParaRPr lang="en-US" sz="980" dirty="0"/>
          </a:p>
        </p:txBody>
      </p:sp>
      <p:sp>
        <p:nvSpPr>
          <p:cNvPr id="30" name="Shape 24"/>
          <p:cNvSpPr/>
          <p:nvPr/>
        </p:nvSpPr>
        <p:spPr>
          <a:xfrm>
            <a:off x="3858768" y="3941064"/>
            <a:ext cx="4828032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5072" y="4091940"/>
            <a:ext cx="201168" cy="20116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315968" y="3941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click: branded deck, smart report, one-pager, live dashboard</a:t>
            </a:r>
            <a:endParaRPr lang="en-US" sz="980" dirty="0"/>
          </a:p>
        </p:txBody>
      </p:sp>
      <p:sp>
        <p:nvSpPr>
          <p:cNvPr id="33" name="Text 26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show data. </a:t>
            </a:r>
            <a:pPr algn="ctr" indent="0" marL="0">
              <a:buNone/>
            </a:pPr>
            <a:r>
              <a:rPr lang="en-US" sz="1400" b="1" i="1" dirty="0">
                <a:solidFill>
                  <a:srgbClr val="9C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deliver judgment.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8430768" y="47594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457200" y="47594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0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MOEI · HACKATHON CHALLENGE 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3474720"/>
            <a:ext cx="2377440" cy="2377440"/>
          </a:xfrm>
          <a:prstGeom prst="hexagon">
            <a:avLst/>
          </a:prstGeom>
          <a:ln w="19050">
            <a:solidFill>
              <a:srgbClr val="9C7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822960"/>
            <a:ext cx="2377440" cy="2377440"/>
          </a:xfrm>
          <a:prstGeom prst="hexagon">
            <a:avLst/>
          </a:prstGeom>
          <a:ln w="19050">
            <a:solidFill>
              <a:srgbClr val="B89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60520" y="685800"/>
            <a:ext cx="822960" cy="822960"/>
          </a:xfrm>
          <a:prstGeom prst="hexagon">
            <a:avLst/>
          </a:prstGeom>
          <a:solidFill>
            <a:srgbClr val="9C7A2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accurate, executive-level</a:t>
            </a:r>
            <a:endParaRPr lang="en-US" sz="28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intelligence.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89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Strengthening the UAE's global engagement in energy and infrastructure.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886200" y="3703320"/>
            <a:ext cx="1371600" cy="0"/>
          </a:xfrm>
          <a:prstGeom prst="line">
            <a:avLst/>
          </a:prstGeom>
          <a:noFill/>
          <a:ln w="25400">
            <a:solidFill>
              <a:srgbClr val="9C7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886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 And yes: every number you just saw carries its source.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30768" y="47594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7594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MOEI · HACKATHON CHALLENGE 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Global Country Intelligence</dc:title>
  <dc:subject>PptxGenJS Presentation</dc:subject>
  <dc:creator>MOEI Hackathon Team</dc:creator>
  <cp:lastModifiedBy>MOEI Hackathon Team</cp:lastModifiedBy>
  <cp:revision>1</cp:revision>
  <dcterms:created xsi:type="dcterms:W3CDTF">2026-06-10T20:51:10Z</dcterms:created>
  <dcterms:modified xsi:type="dcterms:W3CDTF">2026-06-10T20:51:10Z</dcterms:modified>
</cp:coreProperties>
</file>